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How far you SEE (m)</c:v>
                </c:pt>
              </c:strCache>
            </c:strRef>
          </c:tx>
          <c:spPr>
            <a:solidFill>
              <a:srgbClr val="FFD23F"/>
            </a:solidFill>
            <a:ln w="50800" cap="flat">
              <a:solidFill>
                <a:srgbClr val="FFD2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D23F"/>
              </a:solidFill>
              <a:ln w="9525" cap="flat">
                <a:solidFill>
                  <a:srgbClr val="FFD2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soft click</c:v>
                  </c:pt>
                  <c:pt idx="1">
                    <c:v/>
                  </c:pt>
                  <c:pt idx="2">
                    <c:v/>
                  </c:pt>
                  <c:pt idx="3">
                    <c:v>normal clap</c:v>
                  </c:pt>
                  <c:pt idx="4">
                    <c:v/>
                  </c:pt>
                  <c:pt idx="5">
                    <c:v>loud clap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</c:v>
                </c:pt>
                <c:pt idx="1">
                  <c:v>11.3</c:v>
                </c:pt>
                <c:pt idx="2">
                  <c:v>14.5</c:v>
                </c:pt>
                <c:pt idx="3">
                  <c:v>17.7</c:v>
                </c:pt>
                <c:pt idx="4">
                  <c:v>20.8</c:v>
                </c:pt>
                <c:pt idx="5">
                  <c:v>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How far Hollows HEAR (m)</c:v>
                </c:pt>
              </c:strCache>
            </c:strRef>
          </c:tx>
          <c:spPr>
            <a:solidFill>
              <a:srgbClr val="FF3B3B"/>
            </a:solidFill>
            <a:ln w="50800" cap="flat">
              <a:solidFill>
                <a:srgbClr val="FF3B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3B3B"/>
              </a:solidFill>
              <a:ln w="9525" cap="flat">
                <a:solidFill>
                  <a:srgbClr val="FF3B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soft click</c:v>
                  </c:pt>
                  <c:pt idx="1">
                    <c:v/>
                  </c:pt>
                  <c:pt idx="2">
                    <c:v/>
                  </c:pt>
                  <c:pt idx="3">
                    <c:v>normal clap</c:v>
                  </c:pt>
                  <c:pt idx="4">
                    <c:v/>
                  </c:pt>
                  <c:pt idx="5">
                    <c:v>loud clap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14</c:v>
                </c:pt>
                <c:pt idx="2">
                  <c:v>19</c:v>
                </c:pt>
                <c:pt idx="3">
                  <c:v>24</c:v>
                </c:pt>
                <c:pt idx="4">
                  <c:v>29</c:v>
                </c:pt>
                <c:pt idx="5">
                  <c:v>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A4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9D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9525" cap="flat">
              <a:solidFill>
                <a:srgbClr val="2A2A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9D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FFD2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Game logic</c:v>
                  </c:pt>
                  <c:pt idx="1">
                    <c:v>Input &amp; DSP</c:v>
                  </c:pt>
                  <c:pt idx="2">
                    <c:v>Rendering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54</c:v>
                </c:pt>
                <c:pt idx="2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 is a horror escape game you play in the dark with only your voice and your head. Webcam and mic are the whole controller. Team Solo Levelling, Track 2 PlayLab.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input is analog and physical. The chart is straight from the game's config: a clap reveals 5 to 24 m but is heard 4 to 34 m away, so every clap is a trade-off. No buttons in disguise.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frame: webcam to MediaPipe for head yaw and lean, mic to our own DSP for clap onsets and YIN pitch. IntentBuilder turns signals into a PlayerIntent; the game logic is pure TypeScript and never sees a sensor. Hollows are blind state machines driven only by what they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is measured, not projected: 30 fps face tracking and 6.5 ms cave render on the laptop's integrated GPU, 141 passing unit tests. Each venue risk has a built-in mitigation.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it helps: players who can't use their hands; designers looking for alternative input that's actually fun; and anyone building browser games, because the face and voice pipeline is reusable.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for the DSP and vision building blocks, plus the inspirations. Bottom row: real in-game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ECHO_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ECHO_CONTEN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CHO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CHO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686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FFFFFF"/>
                </a:solidFill>
                <a:latin typeface="Creepster" pitchFamily="34" charset="0"/>
                <a:ea typeface="Creepster" pitchFamily="34" charset="-122"/>
                <a:cs typeface="Creepster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10241280" y="3840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FD23F"/>
                </a:solidFill>
                <a:latin typeface="Creepster" pitchFamily="34" charset="0"/>
                <a:ea typeface="Creepster" pitchFamily="34" charset="-122"/>
                <a:cs typeface="Creepster" pitchFamily="34" charset="-120"/>
              </a:rPr>
              <a:t>ECHO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9"/>
                </a:solidFill>
                <a:latin typeface="Sanchez"/>
                <a:ea typeface="Sanchez"/>
                <a:cs typeface="Sanchez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9"/>
                </a:solidFill>
                <a:latin typeface="Sanchez"/>
                <a:ea typeface="Sanchez"/>
                <a:cs typeface="Sanchez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krutarth-coding-hackathon-MGM2026/9571bcc1-9528-484a-ba0c-e69c13dfa017/scratchpad/deck/assets/pos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051560"/>
            <a:ext cx="3291840" cy="33630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NO KEYBOARD  ·  NO MOUSE  ·  NO CONTROLLER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FFFFFF"/>
                </a:solidFill>
                <a:latin typeface="Creepster" pitchFamily="34" charset="0"/>
                <a:ea typeface="Creepster" pitchFamily="34" charset="-122"/>
                <a:cs typeface="Creepster" pitchFamily="34" charset="-120"/>
              </a:rPr>
              <a:t>ECHO</a:t>
            </a:r>
            <a:endParaRPr lang="en-US" sz="1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880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You are blind in a cave.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Your voice is your only light.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776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A horror escape game played in total darkness, controlled only by your voice and your head. A webcam and a microphone are the whole controller.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52578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349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623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Solo Levelling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971800" y="52578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54680" y="5349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TRACK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5623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Track 2: PlayLab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303520" y="5257800"/>
            <a:ext cx="2148840" cy="868680"/>
          </a:xfrm>
          <a:prstGeom prst="roundRect">
            <a:avLst>
              <a:gd name="adj" fmla="val 8421"/>
            </a:avLst>
          </a:prstGeom>
          <a:solidFill>
            <a:srgbClr val="000000">
              <a:alpha val="70000"/>
            </a:srgbClr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5349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HACKATHON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5623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MGM2026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5806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In-game artwork: a Hollow. Blind. It hunts by sound.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reepster" pitchFamily="34" charset="0"/>
                <a:ea typeface="Creepster" pitchFamily="34" charset="-122"/>
                <a:cs typeface="Creepster" pitchFamily="34" charset="-120"/>
              </a:rPr>
              <a:t>Proposed Solution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Sound is sight. The input is not a button in disguise: it IS the core mechanic.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B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THE CHALLENGE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Play without keyboard, mouse, touch or controller, where the input is meaningfully tied to gameplay.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603504" cy="603504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411" y="2866827"/>
            <a:ext cx="337962" cy="33796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697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CLAP · CLICK · KNOCK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99008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A sonar pulse reveals the cave. Louder = see further, and be heard further.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602736"/>
            <a:ext cx="603504" cy="603504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11" y="3735507"/>
            <a:ext cx="337962" cy="3379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35661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HUM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85876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A quiet beam where you look. Pitch sets width, loudness sets range. Heard only within ~5 m.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471416"/>
            <a:ext cx="603504" cy="603504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11" y="4604187"/>
            <a:ext cx="337962" cy="3379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4434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TURN YOUR HEAD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472744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Look left and right. MediaPipe tracks head yaw.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340096"/>
            <a:ext cx="603504" cy="603504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11" y="5472867"/>
            <a:ext cx="337962" cy="33796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53035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LEAN IN · LEAN BACK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1325880" y="559612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Walk. A gentle lean is silent; a full lean makes footsteps they can hear.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446520" y="1554480"/>
            <a:ext cx="5212080" cy="3703320"/>
          </a:xfrm>
          <a:prstGeom prst="roundRect">
            <a:avLst>
              <a:gd name="adj" fmla="val 1975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675120" y="16642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ONE CLAP, TWO RADII</a:t>
            </a:r>
            <a:endParaRPr lang="en-US" sz="15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583680" y="196596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hape 18"/>
          <p:cNvSpPr/>
          <p:nvPr/>
        </p:nvSpPr>
        <p:spPr>
          <a:xfrm>
            <a:off x="6446520" y="54406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629400" y="54406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USP: every input is a bet. </a:t>
            </a:r>
            <a:pPr indent="0" marL="0">
              <a:buNone/>
            </a:pPr>
            <a:r>
              <a:rPr lang="en-US" sz="1400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Sound always carries further than it reveals, so seeing the cave tells the Hollows where you 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9"/>
                </a:solidFill>
                <a:latin typeface="Sanchez"/>
                <a:ea typeface="Sanchez"/>
                <a:cs typeface="Sanchez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reepster" pitchFamily="34" charset="0"/>
                <a:ea typeface="Creepster" pitchFamily="34" charset="-122"/>
                <a:cs typeface="Creepster" pitchFamily="34" charset="-120"/>
              </a:rPr>
              <a:t>Technical Approach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Sensor → signal processing → intent → pure game logic → real-time feedback, all in the browser.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60020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WEBCAM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640×480 · 30 fps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60604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MICROPHONE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raw, no AGC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1988820"/>
            <a:ext cx="228600" cy="914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65960" y="2994660"/>
            <a:ext cx="228600" cy="914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160020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9424" y="1600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MediaPipe Face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Landmarker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GPU delegate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26060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9424" y="26060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MicAnalyzer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128-sample hops (2.7 ms)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1988820"/>
            <a:ext cx="228600" cy="914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2994660"/>
            <a:ext cx="228600" cy="914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43400" y="1600200"/>
            <a:ext cx="2057400" cy="777240"/>
          </a:xfrm>
          <a:prstGeom prst="roundRect">
            <a:avLst>
              <a:gd name="adj" fmla="val 7059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98264" y="160020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Head yaw · lean · presence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One-Euro smoothed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2606040"/>
            <a:ext cx="2057400" cy="777240"/>
          </a:xfrm>
          <a:prstGeom prst="roundRect">
            <a:avLst>
              <a:gd name="adj" fmla="val 7059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98264" y="2606040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Clap onsets · YIN pitch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noise floor · hum detector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1988820"/>
            <a:ext cx="274320" cy="914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2994660"/>
            <a:ext cx="274320" cy="914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0" y="1600200"/>
            <a:ext cx="1645920" cy="1783080"/>
          </a:xfrm>
          <a:prstGeom prst="roundRect">
            <a:avLst>
              <a:gd name="adj" fmla="val 3333"/>
            </a:avLst>
          </a:prstGeom>
          <a:solidFill>
            <a:srgbClr val="FFD23F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9984" y="1600200"/>
            <a:ext cx="15361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IntentBuilder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+ calibration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PlayerIntent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turn · speed · pulses · beam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2491740"/>
            <a:ext cx="274320" cy="914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95360" y="1600200"/>
            <a:ext cx="1463040" cy="1783080"/>
          </a:xfrm>
          <a:prstGeom prst="roundRect">
            <a:avLst>
              <a:gd name="adj" fmla="val 3750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50224" y="1600200"/>
            <a:ext cx="13533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World.update()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pure TypeScript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hearing · Hollows · the Hush · levels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flipV="1">
            <a:off x="10058400" y="1847088"/>
            <a:ext cx="228600" cy="644652"/>
          </a:xfrm>
          <a:prstGeom prst="line">
            <a:avLst/>
          </a:prstGeom>
          <a:noFill/>
          <a:ln w="1905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287000" y="1600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41864" y="1600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three.js reveal shader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V="1">
            <a:off x="10058400" y="2468880"/>
            <a:ext cx="228600" cy="22860"/>
          </a:xfrm>
          <a:prstGeom prst="line">
            <a:avLst/>
          </a:prstGeom>
          <a:noFill/>
          <a:ln w="1905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287000" y="222199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341864" y="222199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Web Audio HRTF 3D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58400" y="2491740"/>
            <a:ext cx="228600" cy="598932"/>
          </a:xfrm>
          <a:prstGeom prst="line">
            <a:avLst/>
          </a:prstGeom>
          <a:noFill/>
          <a:ln w="1905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287000" y="2843784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41864" y="284378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HUD + debug panel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3493008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The game logic never touches a sensor. A dev-only keyboard sim feeds the same PlayerIntent, which is how 141 unit tests drive the game.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38862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THE HOLLOW'S BRAIN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8640" y="470916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" y="4709160"/>
            <a:ext cx="112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IDLE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wanders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331720" y="470916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5151B"/>
          </a:solidFill>
          <a:ln w="15875">
            <a:solidFill>
              <a:srgbClr val="FF3B3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386584" y="47091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HUNT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runs to the sound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17720" y="470916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15151B"/>
          </a:solidFill>
          <a:ln w="15875">
            <a:solidFill>
              <a:srgbClr val="FFD2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72584" y="4709160"/>
            <a:ext cx="112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6 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783080" y="4992624"/>
            <a:ext cx="548640" cy="914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069080" y="4992624"/>
            <a:ext cx="548640" cy="914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1783080" y="47183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hears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069080" y="47183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arrives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30368" y="4480560"/>
            <a:ext cx="914" cy="22860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0432" y="4480560"/>
            <a:ext cx="4059936" cy="914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70432" y="4480560"/>
            <a:ext cx="914" cy="22860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2011680" y="4242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nothing found: back to idle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0" y="5276088"/>
            <a:ext cx="914" cy="484632"/>
          </a:xfrm>
          <a:prstGeom prst="line">
            <a:avLst/>
          </a:prstGeom>
          <a:noFill/>
          <a:ln w="25400">
            <a:solidFill>
              <a:srgbClr val="FF3B3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331720" y="57607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3B3B"/>
          </a:solidFill>
          <a:ln w="15875">
            <a:solidFill>
              <a:srgbClr val="FF3B3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386584" y="57607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CATCH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3273552" y="53218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B3B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within 1.1 m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206240" y="54406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Runs 3.6 m/s from afar, slows to 1.9 m/s up close: faster than you walk, slower when near, so a quiet escape works.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492240" y="3977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HANDS-FREE CALIBRATION · ~45 s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720840" y="4709160"/>
            <a:ext cx="4663440" cy="914"/>
          </a:xfrm>
          <a:prstGeom prst="line">
            <a:avLst/>
          </a:prstGeom>
          <a:noFill/>
          <a:ln w="38100">
            <a:solidFill>
              <a:srgbClr val="3A3A4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19672" y="4507992"/>
            <a:ext cx="402336" cy="402336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51967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1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327648" y="4983480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Face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296912" y="4507992"/>
            <a:ext cx="402336" cy="402336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29691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2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7104888" y="4983480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Quiet room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074152" y="4507992"/>
            <a:ext cx="402336" cy="402336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07415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3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7882128" y="4983480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Neutral pose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851392" y="4507992"/>
            <a:ext cx="402336" cy="402336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85139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4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8659368" y="4983480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Look left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628632" y="4507992"/>
            <a:ext cx="402336" cy="402336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62863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5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9436608" y="4983480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Clap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0405872" y="4507992"/>
            <a:ext cx="402336" cy="402336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040587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6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10213848" y="4983480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Hum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1183112" y="4507992"/>
            <a:ext cx="402336" cy="402336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118311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0A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7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10991088" y="4983480"/>
            <a:ext cx="786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Speaker leak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6492240" y="54406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Every step: says what and why → countdown → live reading → result.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492240" y="58521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5151B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492240" y="58521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7589520" y="5852160"/>
            <a:ext cx="539496" cy="329184"/>
          </a:xfrm>
          <a:prstGeom prst="roundRect">
            <a:avLst>
              <a:gd name="adj" fmla="val 50000"/>
            </a:avLst>
          </a:prstGeom>
          <a:solidFill>
            <a:srgbClr val="15151B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589520" y="5852160"/>
            <a:ext cx="539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Vite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8220456" y="5852160"/>
            <a:ext cx="850392" cy="329184"/>
          </a:xfrm>
          <a:prstGeom prst="roundRect">
            <a:avLst>
              <a:gd name="adj" fmla="val 50000"/>
            </a:avLst>
          </a:prstGeom>
          <a:solidFill>
            <a:srgbClr val="15151B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220456" y="585216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three.js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9162288" y="585216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5151B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162288" y="585216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MediaPipe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10181844" y="585216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5151B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181844" y="585216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Web Audio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11201400" y="5852160"/>
            <a:ext cx="694944" cy="329184"/>
          </a:xfrm>
          <a:prstGeom prst="roundRect">
            <a:avLst>
              <a:gd name="adj" fmla="val 50000"/>
            </a:avLst>
          </a:prstGeom>
          <a:solidFill>
            <a:srgbClr val="15151B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1201400" y="585216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Vitest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9"/>
                </a:solidFill>
                <a:latin typeface="Sanchez"/>
                <a:ea typeface="Sanchez"/>
                <a:cs typeface="Sanchez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reepster" pitchFamily="34" charset="0"/>
                <a:ea typeface="Creepster" pitchFamily="34" charset="-122"/>
                <a:cs typeface="Creepster" pitchFamily="34" charset="-120"/>
              </a:rPr>
              <a:t>Feasibility &amp; Viability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It already works: a playable 3-level prototype, measured on an ordinary laptop with integrated graphics.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33472" cy="1463040"/>
          </a:xfrm>
          <a:prstGeom prst="roundRect">
            <a:avLst>
              <a:gd name="adj" fmla="val 5000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30 fps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957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face tracking on an Intel integrated GPU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600200"/>
            <a:ext cx="2633472" cy="1463040"/>
          </a:xfrm>
          <a:prstGeom prst="roundRect">
            <a:avLst>
              <a:gd name="adj" fmla="val 5000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7872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6.5 ms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3957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to render the cave per frame, inside a 20 ms budget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600200"/>
            <a:ext cx="2633472" cy="1463040"/>
          </a:xfrm>
          <a:prstGeom prst="roundRect">
            <a:avLst>
              <a:gd name="adj" fmla="val 5000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141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3957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unit tests, all passing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97696" y="1600200"/>
            <a:ext cx="2633472" cy="1463040"/>
          </a:xfrm>
          <a:prstGeom prst="roundRect">
            <a:avLst>
              <a:gd name="adj" fmla="val 5000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691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3957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extra hardware: webcam + mic, runs offline in Chrome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4206240" cy="2971800"/>
          </a:xfrm>
          <a:prstGeom prst="roundRect">
            <a:avLst>
              <a:gd name="adj" fmla="val 2462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83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141 TESTS BY LAYER</a:t>
            </a:r>
            <a:endParaRPr lang="en-US" sz="15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85800" y="3703320"/>
          <a:ext cx="3977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074920" y="3383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RISKS WE DESIGNED FOR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937760" y="3767328"/>
            <a:ext cx="6720840" cy="475488"/>
          </a:xfrm>
          <a:prstGeom prst="roundRect">
            <a:avLst>
              <a:gd name="adj" fmla="val 15385"/>
            </a:avLst>
          </a:prstGeom>
          <a:solidFill>
            <a:srgbClr val="15151B"/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37673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B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Noisy hackathon hall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376732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Calibrated noise floor; a clap must spike, then drop 8 dB within 75 ms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37760" y="4315968"/>
            <a:ext cx="6720840" cy="475488"/>
          </a:xfrm>
          <a:prstGeom prst="roundRect">
            <a:avLst>
              <a:gd name="adj" fmla="val 15385"/>
            </a:avLst>
          </a:prstGeom>
          <a:solidFill>
            <a:srgbClr val="15151B"/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74920" y="431596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B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The game hears itself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178040" y="431596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Headphones + a speaker-leak test during calibration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937760" y="4864608"/>
            <a:ext cx="6720840" cy="475488"/>
          </a:xfrm>
          <a:prstGeom prst="roundRect">
            <a:avLst>
              <a:gd name="adj" fmla="val 15385"/>
            </a:avLst>
          </a:prstGeom>
          <a:solidFill>
            <a:srgbClr val="15151B"/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74920" y="486460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B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Face lost, bad light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178040" y="486460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Auto-pause after 0.4 s without a face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937760" y="5413248"/>
            <a:ext cx="6720840" cy="475488"/>
          </a:xfrm>
          <a:prstGeom prst="roundRect">
            <a:avLst>
              <a:gd name="adj" fmla="val 15385"/>
            </a:avLst>
          </a:prstGeom>
          <a:solidFill>
            <a:srgbClr val="15151B"/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74920" y="541324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B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Weak laptop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178040" y="541324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Adaptive render scale below 40 fps; all assets bundled offline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937760" y="598932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Viable: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browser distribution, zero install, zero hardware cost. Levels are ASCII maps, so new content is cheap.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9"/>
                </a:solidFill>
                <a:latin typeface="Sanchez"/>
                <a:ea typeface="Sanchez"/>
                <a:cs typeface="Sanchez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reepster" pitchFamily="34" charset="0"/>
                <a:ea typeface="Creepster" pitchFamily="34" charset="-122"/>
                <a:cs typeface="Creepster" pitchFamily="34" charset="-120"/>
              </a:rPr>
              <a:t>Impact &amp; Benefits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Your body is the controller.</a:t>
            </a:r>
            <a:endParaRPr lang="en-US" sz="1600" dirty="0"/>
          </a:p>
        </p:txBody>
      </p:sp>
      <p:pic>
        <p:nvPicPr>
          <p:cNvPr id="4" name="Image 0" descr="/tmp/claude-1000/-home-krutarth-coding-hackathon-MGM2026/9571bcc1-9528-484a-ba0c-e69c13dfa017/scratchpad/deck/assets/red_glow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223760" y="1097280"/>
            <a:ext cx="4937760" cy="4937760"/>
          </a:xfrm>
          <a:prstGeom prst="rect">
            <a:avLst/>
          </a:prstGeom>
        </p:spPr>
      </p:pic>
      <p:pic>
        <p:nvPicPr>
          <p:cNvPr id="5" name="Image 1" descr="/tmp/claude-1000/-home-krutarth-coding-hackathon-MGM2026/9571bcc1-9528-484a-ba0c-e69c13dfa017/scratchpad/deck/assets/pos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325880"/>
            <a:ext cx="4023360" cy="41219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0020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1969618"/>
            <a:ext cx="358445" cy="35844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Accessibility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2926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Fully hands-free play for people who can't use a keyboard, mouse or controller.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3886200" y="160020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114800" y="1828800"/>
            <a:ext cx="640080" cy="64008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618" y="1969618"/>
            <a:ext cx="358445" cy="35844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114800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Input becomes the game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114800" y="2926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Alt-input as the fun, not a gimmick: your noise is both your light and your danger.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48640" y="393192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8" y="4301338"/>
            <a:ext cx="358445" cy="35844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77240" y="4892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Real immersion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777240" y="5257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You hold your breath, lean in slowly and hum quietly. The fear is physical.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3886200" y="393192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114800" y="4160520"/>
            <a:ext cx="640080" cy="64008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5618" y="4301338"/>
            <a:ext cx="358445" cy="35844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114800" y="4892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Reusable &amp; low barrier</a:t>
            </a:r>
            <a:endParaRPr lang="en-US" sz="1700" dirty="0"/>
          </a:p>
        </p:txBody>
      </p:sp>
      <p:sp>
        <p:nvSpPr>
          <p:cNvPr id="25" name="Text 17"/>
          <p:cNvSpPr txBox="1"/>
          <p:nvPr/>
        </p:nvSpPr>
        <p:spPr>
          <a:xfrm>
            <a:off x="4114800" y="5257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A face + voice → intent pipeline any browser game can adopt. Any laptop, no install.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7315200" y="57150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Seen only in the flash of your own clap.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9"/>
                </a:solidFill>
                <a:latin typeface="Sanchez"/>
                <a:ea typeface="Sanchez"/>
                <a:cs typeface="Sanchez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reepster" pitchFamily="34" charset="0"/>
                <a:ea typeface="Creepster" pitchFamily="34" charset="-122"/>
                <a:cs typeface="Creepster" pitchFamily="34" charset="-120"/>
              </a:rPr>
              <a:t>Research &amp; References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The techniques under the hood, plus related research and games.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Signal processing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YIN pitch estimation: de Cheveigné &amp; Kawahara, JASA 2002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One Euro Filter: Casiez, Roussel &amp; Vogel, CHI 2012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Percussive onset detection with an adaptive noise floor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1903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1208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Vision &amp; rendering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468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MediaPipe Face Landmarker (Google)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Surface Nets meshing of distance fields: Gibson, 1998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three.js · Web Audio API (HRTF panning)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15151B">
              <a:alpha val="92000"/>
            </a:srgbClr>
          </a:solidFill>
          <a:ln w="12700">
            <a:solidFill>
              <a:srgbClr val="3A3A4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19037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6112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23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Related work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468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Human echolocation: Thaler, Arnott &amp; Goodale, PLoS ONE 2011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Sound-driven horror games: Dark Echo (2015), Perception (2017), Stifled (2017)</a:t>
            </a:r>
            <a:endParaRPr lang="en-US" sz="1300" dirty="0"/>
          </a:p>
        </p:txBody>
      </p:sp>
      <p:pic>
        <p:nvPicPr>
          <p:cNvPr id="19" name="Image 3" descr="/tmp/claude-1000/-home-krutarth-coding-hackathon-MGM2026/9571bcc1-9528-484a-ba0c-e69c13dfa017/scratchpad/deck/assets/crop-hollow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4434840"/>
            <a:ext cx="2651760" cy="149161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4434840"/>
            <a:ext cx="2651760" cy="1491615"/>
          </a:xfrm>
          <a:prstGeom prst="rect">
            <a:avLst/>
          </a:prstGeom>
          <a:ln w="12700">
            <a:solidFill>
              <a:srgbClr val="3A3A4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48640" y="5989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Clap: the pulse reveals a Hollow</a:t>
            </a:r>
            <a:endParaRPr lang="en-US" sz="1100" dirty="0"/>
          </a:p>
        </p:txBody>
      </p:sp>
      <p:pic>
        <p:nvPicPr>
          <p:cNvPr id="22" name="Image 4" descr="/tmp/claude-1000/-home-krutarth-coding-hackathon-MGM2026/9571bcc1-9528-484a-ba0c-e69c13dfa017/scratchpad/deck/assets/crop-hum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364992" y="4434840"/>
            <a:ext cx="2651760" cy="149161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364992" y="4434840"/>
            <a:ext cx="2651760" cy="1491615"/>
          </a:xfrm>
          <a:prstGeom prst="rect">
            <a:avLst/>
          </a:prstGeom>
          <a:ln w="12700">
            <a:solidFill>
              <a:srgbClr val="3A3A46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3364992" y="5989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Hum: a narrow, quiet beam</a:t>
            </a:r>
            <a:endParaRPr lang="en-US" sz="1100" dirty="0"/>
          </a:p>
        </p:txBody>
      </p:sp>
      <p:pic>
        <p:nvPicPr>
          <p:cNvPr id="25" name="Image 5" descr="/tmp/claude-1000/-home-krutarth-coding-hackathon-MGM2026/9571bcc1-9528-484a-ba0c-e69c13dfa017/scratchpad/deck/assets/crop-hero-eyes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81344" y="4434840"/>
            <a:ext cx="2651760" cy="1491615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181344" y="4434840"/>
            <a:ext cx="2651760" cy="1491615"/>
          </a:xfrm>
          <a:prstGeom prst="rect">
            <a:avLst/>
          </a:prstGeom>
          <a:ln w="12700">
            <a:solidFill>
              <a:srgbClr val="3A3A46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181344" y="5989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It heard you</a:t>
            </a:r>
            <a:endParaRPr lang="en-US" sz="1100" dirty="0"/>
          </a:p>
        </p:txBody>
      </p:sp>
      <p:pic>
        <p:nvPicPr>
          <p:cNvPr id="28" name="Image 6" descr="/tmp/claude-1000/-home-krutarth-coding-hackathon-MGM2026/9571bcc1-9528-484a-ba0c-e69c13dfa017/scratchpad/deck/assets/cave_user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997696" y="4434840"/>
            <a:ext cx="2651760" cy="1491615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8997696" y="4434840"/>
            <a:ext cx="2651760" cy="1491615"/>
          </a:xfrm>
          <a:prstGeom prst="rect">
            <a:avLst/>
          </a:prstGeom>
          <a:ln w="12700">
            <a:solidFill>
              <a:srgbClr val="3A3A46"/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8997696" y="5989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3"/>
                </a:solidFill>
                <a:latin typeface="Sanchez" pitchFamily="34" charset="0"/>
                <a:ea typeface="Sanchez" pitchFamily="34" charset="-122"/>
                <a:cs typeface="Sanchez" pitchFamily="34" charset="-120"/>
              </a:rPr>
              <a:t>Awakening: gold arrows to the exit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9"/>
                </a:solidFill>
                <a:latin typeface="Sanchez"/>
                <a:ea typeface="Sanchez"/>
                <a:cs typeface="Sanchez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HO">
  <a:themeElements>
    <a:clrScheme name="ECHO">
      <a:dk1>
        <a:srgbClr val="07070A"/>
      </a:dk1>
      <a:lt1>
        <a:srgbClr val="FFFFFF"/>
      </a:lt1>
      <a:dk2>
        <a:srgbClr val="15151B"/>
      </a:dk2>
      <a:lt2>
        <a:srgbClr val="C9C9D3"/>
      </a:lt2>
      <a:accent1>
        <a:srgbClr val="FFD23F"/>
      </a:accent1>
      <a:accent2>
        <a:srgbClr val="FF3B3B"/>
      </a:accent2>
      <a:accent3>
        <a:srgbClr val="FFFFFF"/>
      </a:accent3>
      <a:accent4>
        <a:srgbClr val="8A8A99"/>
      </a:accent4>
      <a:accent5>
        <a:srgbClr val="FFB000"/>
      </a:accent5>
      <a:accent6>
        <a:srgbClr val="5A5A66"/>
      </a:accent6>
      <a:hlink>
        <a:srgbClr val="FFD23F"/>
      </a:hlink>
      <a:folHlink>
        <a:srgbClr val="FFB000"/>
      </a:folHlink>
    </a:clrScheme>
    <a:fontScheme name="ECHO">
      <a:majorFont>
        <a:latin typeface="Creeps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nchez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ECHO: hackathon pitch</dc:title>
  <dc:subject>PptxGenJS Presentation</dc:subject>
  <dc:creator>Solo Levelling</dc:creator>
  <cp:lastModifiedBy>Solo Levelling</cp:lastModifiedBy>
  <cp:revision>1</cp:revision>
  <dcterms:created xsi:type="dcterms:W3CDTF">2026-10-13T09:42:30Z</dcterms:created>
  <dcterms:modified xsi:type="dcterms:W3CDTF">2026-10-13T09:42:30Z</dcterms:modified>
</cp:coreProperties>
</file>